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f389172c47434d" /><Relationship Type="http://schemas.openxmlformats.org/officeDocument/2006/relationships/extended-properties" Target="/docProps/app.xml" Id="R17f770aecfbd4666" /><Relationship Type="http://schemas.openxmlformats.org/officeDocument/2006/relationships/officeDocument" Target="/ppt/presentation.xml" Id="R86c2b6baef8c41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dd8fddbdae48ee"/>
  </p:sldMasterIdLst>
  <p:notesMasterIdLst>
    <p:notesMasterId xmlns:r="http://schemas.openxmlformats.org/officeDocument/2006/relationships" r:id="Rae616fcb8ae14b3f"/>
  </p:notesMasterIdLst>
  <p:sldIdLst>
    <p:sldId xmlns:r="http://schemas.openxmlformats.org/officeDocument/2006/relationships" id="256" r:id="R01cbbb9cfe134c93"/>
    <p:sldId xmlns:r="http://schemas.openxmlformats.org/officeDocument/2006/relationships" id="257" r:id="R6d5f925664b44be5"/>
    <p:sldId xmlns:r="http://schemas.openxmlformats.org/officeDocument/2006/relationships" id="258" r:id="Rf44555cb56f44f53"/>
    <p:sldId xmlns:r="http://schemas.openxmlformats.org/officeDocument/2006/relationships" id="259" r:id="Rf96e2024c0e04f3f"/>
    <p:sldId xmlns:r="http://schemas.openxmlformats.org/officeDocument/2006/relationships" id="260" r:id="R6761c32248b043c6"/>
    <p:sldId xmlns:r="http://schemas.openxmlformats.org/officeDocument/2006/relationships" id="261" r:id="Re1d7c9b087f6497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6bb0f82c634336" /><Relationship Type="http://schemas.openxmlformats.org/officeDocument/2006/relationships/slideMaster" Target="/ppt/slideMasters/slideMaster1.xml" Id="R30dd8fddbdae48ee" /><Relationship Type="http://schemas.openxmlformats.org/officeDocument/2006/relationships/notesMaster" Target="/ppt/notesMasters/notesMaster1.xml" Id="Rae616fcb8ae14b3f" /><Relationship Type="http://schemas.openxmlformats.org/officeDocument/2006/relationships/presProps" Target="/ppt/presProps.xml" Id="R4ada60eccc264dc0" /><Relationship Type="http://schemas.openxmlformats.org/officeDocument/2006/relationships/viewProps" Target="/ppt/viewProps.xml" Id="R7552d26e55d74f28" /><Relationship Type="http://schemas.openxmlformats.org/officeDocument/2006/relationships/tableStyles" Target="/ppt/tableStyles.xml" Id="R3ffec2579c334e3f" /><Relationship Type="http://schemas.openxmlformats.org/officeDocument/2006/relationships/slide" Target="/ppt/slides/slide1.xml" Id="R01cbbb9cfe134c93" /><Relationship Type="http://schemas.openxmlformats.org/officeDocument/2006/relationships/slide" Target="/ppt/slides/slide2.xml" Id="R6d5f925664b44be5" /><Relationship Type="http://schemas.openxmlformats.org/officeDocument/2006/relationships/slide" Target="/ppt/slides/slide3.xml" Id="Rf44555cb56f44f53" /><Relationship Type="http://schemas.openxmlformats.org/officeDocument/2006/relationships/slide" Target="/ppt/slides/slide4.xml" Id="Rf96e2024c0e04f3f" /><Relationship Type="http://schemas.openxmlformats.org/officeDocument/2006/relationships/slide" Target="/ppt/slides/slide5.xml" Id="R6761c32248b043c6" /><Relationship Type="http://schemas.openxmlformats.org/officeDocument/2006/relationships/slide" Target="/ppt/slides/slide6.xml" Id="Re1d7c9b087f649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a3f264e2f848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f5171fc99d44f4" /><Relationship Type="http://schemas.openxmlformats.org/officeDocument/2006/relationships/notesMaster" Target="/ppt/notesMasters/notesMaster1.xml" Id="R09843486cba74d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d6f497815448b5" /><Relationship Type="http://schemas.openxmlformats.org/officeDocument/2006/relationships/notesMaster" Target="/ppt/notesMasters/notesMaster1.xml" Id="R1c83e9410d1543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0188e68f5e4754" /><Relationship Type="http://schemas.openxmlformats.org/officeDocument/2006/relationships/notesMaster" Target="/ppt/notesMasters/notesMaster1.xml" Id="Rdb5598333d964c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52d68718844af0" /><Relationship Type="http://schemas.openxmlformats.org/officeDocument/2006/relationships/notesMaster" Target="/ppt/notesMasters/notesMaster1.xml" Id="Rad41897a768341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a15317779d453b" /><Relationship Type="http://schemas.openxmlformats.org/officeDocument/2006/relationships/notesMaster" Target="/ppt/notesMasters/notesMaster1.xml" Id="Rc0cc0447985848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2f9c95106f4a30" /><Relationship Type="http://schemas.openxmlformats.org/officeDocument/2006/relationships/notesMaster" Target="/ppt/notesMasters/notesMaster1.xml" Id="Rb046347eff014a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fa4e70f32947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6a3396169943c9" /><Relationship Type="http://schemas.openxmlformats.org/officeDocument/2006/relationships/slideLayout" Target="/ppt/slideLayouts/slideLayout1.xml" Id="Rd617948aa6ef48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17948aa6ef48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20f62b4bb4ecf" /><Relationship Type="http://schemas.openxmlformats.org/officeDocument/2006/relationships/image" Target="/ppt/media/image.jpeg" Id="Ra3271e754bb140c1" /><Relationship Type="http://schemas.openxmlformats.org/officeDocument/2006/relationships/notesSlide" Target="/ppt/notesSlides/notesSlide1.xml" Id="R4d5035a17cf041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4115bca0b40a0" /><Relationship Type="http://schemas.openxmlformats.org/officeDocument/2006/relationships/image" Target="/ppt/media/image.png" Id="R05eaad4c7a6b4f5c" /><Relationship Type="http://schemas.openxmlformats.org/officeDocument/2006/relationships/image" Target="/ppt/media/image2.png" Id="R0af17399bf52465e" /><Relationship Type="http://schemas.openxmlformats.org/officeDocument/2006/relationships/image" Target="/ppt/media/image3.png" Id="Rc14194c3f29d46b4" /><Relationship Type="http://schemas.openxmlformats.org/officeDocument/2006/relationships/notesSlide" Target="/ppt/notesSlides/notesSlide2.xml" Id="Rf88ac154f45245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3bb1c85e94646" /><Relationship Type="http://schemas.openxmlformats.org/officeDocument/2006/relationships/notesSlide" Target="/ppt/notesSlides/notesSlide3.xml" Id="Rfa3832bc166647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8f40edbb64172" /><Relationship Type="http://schemas.openxmlformats.org/officeDocument/2006/relationships/notesSlide" Target="/ppt/notesSlides/notesSlide4.xml" Id="R9cea2e26a38b4b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0517d1ca143cf" /><Relationship Type="http://schemas.openxmlformats.org/officeDocument/2006/relationships/image" Target="/ppt/media/image2.jpeg" Id="R962a068016314e11" /><Relationship Type="http://schemas.openxmlformats.org/officeDocument/2006/relationships/notesSlide" Target="/ppt/notesSlides/notesSlide5.xml" Id="R9de4630e18994c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9ffc036bc4396" /><Relationship Type="http://schemas.openxmlformats.org/officeDocument/2006/relationships/notesSlide" Target="/ppt/notesSlides/notesSlide6.xml" Id="R28104e4bd05944e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3E0299-0CCC-44C2-9812-4A89D63B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B1592-266F-4A41-A7BB-1923AD59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2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27124-44CE-4FD6-AE7A-A792B9EC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776BA-47B3-4083-8EF1-3D503D48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2B">
              <a:alpha val="13333"/>
            </a:srgbClr>
          </a:solidFill>
          <a:ln xmlns:a="http://schemas.openxmlformats.org/drawingml/2006/main" w="9525">
            <a:solidFill>
              <a:srgbClr val="FF5C2B">
                <a:alpha val="4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7EDCF-62C6-426C-9567-28637472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3939F-BCBC-4DB8-8A0F-7724D76E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AB814-7D31-45A6-986A-934C87CB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C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5C2B"/>
                </a:solidFill>
                <a:latin typeface="Aptos"/>
                <a:ea typeface="Aptos"/>
                <a:cs typeface="Aptos"/>
              </a:rPr>
              <a:t>DEMO BUILD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3DC65-1FC7-4D04-8756-E22E3200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66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VSHORT now edits talking-head videos automatically.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AB3C8-64FA-4A9E-90A2-296B2175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581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FD3D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FD3DF"/>
                </a:solidFill>
                <a:latin typeface="Aptos"/>
                <a:ea typeface="Aptos"/>
                <a:cs typeface="Aptos"/>
              </a:rPr>
              <a:t>Drop in a clip. The backend removes long pauses, normalizes the source, adds BGM and motion packaging, then renders a vertical short through HyperFrames.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5ACCA8-8C9A-49A9-87E9-98A6C740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2B">
              <a:alpha val="12549"/>
            </a:srgbClr>
          </a:solidFill>
          <a:ln xmlns:a="http://schemas.openxmlformats.org/drawingml/2006/main" w="9525">
            <a:solidFill>
              <a:srgbClr val="FF5C2B">
                <a:alpha val="6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5AEE7-1030-4133-91D9-836729BD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7FB"/>
                </a:solidFill>
                <a:latin typeface="Aptos"/>
                <a:ea typeface="Aptos"/>
                <a:cs typeface="Aptos"/>
              </a:rPr>
              <a:t>Auto pause cut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8C1E0-8CF2-4563-BBE4-FC25DD84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>
              <a:alpha val="12549"/>
            </a:srgbClr>
          </a:solidFill>
          <a:ln xmlns:a="http://schemas.openxmlformats.org/drawingml/2006/main" w="9525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39A765-9E02-4E22-A0DA-6B3249B7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6240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7FB"/>
                </a:solidFill>
                <a:latin typeface="Aptos"/>
                <a:ea typeface="Aptos"/>
                <a:cs typeface="Aptos"/>
              </a:rPr>
              <a:t>BGM mixing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D59A4-9F81-468D-8224-6B410EA5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862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18FF">
              <a:alpha val="12549"/>
            </a:srgbClr>
          </a:solidFill>
          <a:ln xmlns:a="http://schemas.openxmlformats.org/drawingml/2006/main" w="9525">
            <a:solidFill>
              <a:srgbClr val="A918FF">
                <a:alpha val="6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6A7C71-A75B-49F4-877D-AEBF390A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62400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7FB"/>
                </a:solidFill>
                <a:latin typeface="Aptos"/>
                <a:ea typeface="Aptos"/>
                <a:cs typeface="Aptos"/>
              </a:rPr>
              <a:t>HyperFrames render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E5DE60-0786-4D1B-A695-70EC9A83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862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2B">
              <a:alpha val="12549"/>
            </a:srgbClr>
          </a:solidFill>
          <a:ln xmlns:a="http://schemas.openxmlformats.org/drawingml/2006/main" w="9525">
            <a:solidFill>
              <a:srgbClr val="FF5C2B">
                <a:alpha val="6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0CFC52-8F82-44E4-A0F6-7223CCEC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6240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7FB"/>
                </a:solidFill>
                <a:latin typeface="Aptos"/>
                <a:ea typeface="Aptos"/>
                <a:cs typeface="Aptos"/>
              </a:rPr>
              <a:t>1080 x 1920 export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39E42D-E1B1-4C7E-8625-3ABEE4CB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90550"/>
            <a:ext cx="272415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71e754bb140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666750"/>
            <a:ext cx="2571750" cy="45720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4FE74D-7557-4387-8540-051DA281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572125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BDC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8BDCA"/>
                </a:solidFill>
                <a:latin typeface="Aptos"/>
                <a:ea typeface="Aptos"/>
                <a:cs typeface="Aptos"/>
              </a:rPr>
              <a:t>Verified output: H.264 video, AAC stereo audio, 30fps vertical MP4.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BA8972-A9F9-41B4-8E6E-2C9BD5E2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VSHORT / HyperFrames Auto Editing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8646F8-CE57-4695-B964-F00B6360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194152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4FBDB2-BBA1-4CB7-BC96-EE2AC1F8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7D4A0-267E-477A-A4D0-7D3675CD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B7336-FC1C-46AF-A63F-C020A266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F4777-7F36-4A8E-877C-2D6A4DAF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FF">
              <a:alpha val="13333"/>
            </a:srgbClr>
          </a:solidFill>
          <a:ln xmlns:a="http://schemas.openxmlformats.org/drawingml/2006/main" w="9525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2B78C-3418-42B0-9AF9-D238D4D9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CC376-54D1-49B9-93A2-CFA25AB2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F319B-F158-425E-A29B-A233A4D0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D4FF"/>
                </a:solidFill>
                <a:latin typeface="Aptos"/>
                <a:ea typeface="Aptos"/>
                <a:cs typeface="Aptos"/>
              </a:rPr>
              <a:t>PRODUCT SURFACE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F995C-58C8-4D50-A6C6-8FDC62AA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723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The original Vshort frontend stays intact.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60946-C677-43DD-A6A5-077D623A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657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FD3D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FD3DF"/>
                </a:solidFill>
                <a:latin typeface="Aptos"/>
                <a:ea typeface="Aptos"/>
                <a:cs typeface="Aptos"/>
              </a:rPr>
              <a:t>Script, storyboard, and video editor remain separate work areas instead of being merged into one generic flow.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FF580-DFD7-46C1-9AD1-3997AC6B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34861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eaad4c7a6b4f5c"/>
          <a:srcRect xmlns:a="http://schemas.openxmlformats.org/drawingml/2006/main" l="0" t="217" r="0" b="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628900"/>
            <a:ext cx="3333750" cy="23050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3B42C-CD76-4B47-B4D2-42AD0A59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552700"/>
            <a:ext cx="34861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17399bf52465e"/>
          <a:srcRect xmlns:a="http://schemas.openxmlformats.org/drawingml/2006/main" l="0" t="217" r="0" b="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2628900"/>
            <a:ext cx="3333750" cy="23050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90BDD-CD2E-47E2-8059-AEAA41BC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52700"/>
            <a:ext cx="34861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194c3f29d46b4"/>
          <a:srcRect xmlns:a="http://schemas.openxmlformats.org/drawingml/2006/main" l="0" t="217" r="0" b="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850" y="2628900"/>
            <a:ext cx="3333750" cy="23050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8C3C44-7AEB-4581-A2BF-368072F1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00D4FF">
                <a:alpha val="33333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1FE50D-AB6E-41B5-BB06-C552EF4B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816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0D4FF"/>
                </a:solidFill>
                <a:latin typeface="Aptos"/>
                <a:ea typeface="Aptos"/>
                <a:cs typeface="Aptos"/>
              </a:rPr>
              <a:t>01 / Script Generator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2C6FC7-C8D4-4EA9-B6C2-D9EBAB5D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197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A918FF">
                <a:alpha val="33333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94CDF8-CA4B-4574-BA8D-17C0F2D2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3816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18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18FF"/>
                </a:solidFill>
                <a:latin typeface="Aptos"/>
                <a:ea typeface="Aptos"/>
                <a:cs typeface="Aptos"/>
              </a:rPr>
              <a:t>02 / Storyboard Builder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124836-2D8A-4BF4-A471-1458F083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2197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33333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85C82F-BB44-4300-BFAF-4AC59616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3816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5C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5C2B"/>
                </a:solidFill>
                <a:latin typeface="Aptos"/>
                <a:ea typeface="Aptos"/>
                <a:cs typeface="Aptos"/>
              </a:rPr>
              <a:t>03 / Video Editor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02AA77-4F8C-4ECC-BBE2-FE003031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VSHORT / HyperFrames Auto Editing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E22D06-6970-4E91-A926-A44619D1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3562184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B42E2A-FE93-4BFB-AC33-B2411A5F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6A18F-FE46-4D0B-AB9C-308975B3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18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BC7F9-576F-4B41-999E-245EFFBA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8C074-F353-4FEF-B226-F94950A7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18FF">
              <a:alpha val="13333"/>
            </a:srgbClr>
          </a:solidFill>
          <a:ln xmlns:a="http://schemas.openxmlformats.org/drawingml/2006/main" w="9525">
            <a:solidFill>
              <a:srgbClr val="A918FF">
                <a:alpha val="4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DB084-5F7F-4583-9D5B-2BE5E716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F1D5A-F424-4092-8513-E1896A1D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1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1349A-21C0-4C01-8A5E-4DD0DBA1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18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18FF"/>
                </a:solidFill>
                <a:latin typeface="Aptos"/>
                <a:ea typeface="Aptos"/>
                <a:cs typeface="Aptos"/>
              </a:rPr>
              <a:t>AUTOMATION LOGIC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3F17A-40B8-4D49-B0E4-D5C50BFE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620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A clean backend pipeline does the manual editing 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C62E6-E8E1-4C1C-8E31-EE1A40BF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FD3D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FD3DF"/>
                </a:solidFill>
                <a:latin typeface="Aptos"/>
                <a:ea typeface="Aptos"/>
                <a:cs typeface="Aptos"/>
              </a:rPr>
              <a:t>The user does not mark cuts. Audio silence becomes edit points; HyperFrames becomes the visual and audio packaging layer.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8A2E0-0A47-4ED8-AA3E-9723B860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16764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00D4FF">
                <a:alpha val="46667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246AF-4DFB-4D2B-9833-7B496582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D4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0D4F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17F0DB-E534-457C-9FA4-41C0206A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Upload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CCC43-4A38-4FA8-BF1B-4DB6ECD0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1333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4C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4C5"/>
                </a:solidFill>
                <a:latin typeface="Aptos"/>
                <a:ea typeface="Aptos"/>
                <a:cs typeface="Aptos"/>
              </a:rPr>
              <a:t>One or more talking-head clips enter the project.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7C0DAB-4309-478A-8274-E017B875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19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CEE81B-C32E-4DC3-80A9-295A0E5E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19450"/>
            <a:ext cx="16764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00D4FF">
                <a:alpha val="46667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1A746D-302C-4A1B-9E2F-4506D05B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09950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D4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0D4F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2F503B-597C-40BF-BFA3-8C18892A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100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Stitch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70BC53-C718-448E-9DE6-AA9BD8F4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33850"/>
            <a:ext cx="1333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4C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4C5"/>
                </a:solidFill>
                <a:latin typeface="Aptos"/>
                <a:ea typeface="Aptos"/>
                <a:cs typeface="Aptos"/>
              </a:rPr>
              <a:t>FFmpeg prepares one source timeline.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B8955-5A78-465A-AEB5-B0377D0C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19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46C40B-2E8B-423B-B6CF-532A6D07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19450"/>
            <a:ext cx="16764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46667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B0093D-C77A-4197-AFC8-8B1524A6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09950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5C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5C2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7756E8-8DB0-4183-9680-8500AE1D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100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Detect pauses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B99F37-84E2-4AD3-BEC8-5792E0A7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33850"/>
            <a:ext cx="1333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4C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4C5"/>
                </a:solidFill>
                <a:latin typeface="Aptos"/>
                <a:ea typeface="Aptos"/>
                <a:cs typeface="Aptos"/>
              </a:rPr>
              <a:t>silencedetect finds long low-volume gaps.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2C4F6C-1CF5-4C49-8419-27FA65E6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19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1F825B-6DA1-46AA-8C43-10325629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19450"/>
            <a:ext cx="16764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46667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93D138-2A9A-42D3-BD03-9E5BCE6C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5C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5C2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D4C79D-0FC9-4DC3-9A2E-1E2C6463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Cut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FDF77C-B10F-4935-8523-DD4532BA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3850"/>
            <a:ext cx="1333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4C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4C5"/>
                </a:solidFill>
                <a:latin typeface="Aptos"/>
                <a:ea typeface="Aptos"/>
                <a:cs typeface="Aptos"/>
              </a:rPr>
              <a:t>Quiet gaps are removed with natural padding.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41A20C-A2F0-4CB9-AD80-C3506932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19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D893B4-C340-4A3D-8134-356B58BD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19450"/>
            <a:ext cx="16764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A918FF">
                <a:alpha val="46667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6D74EC-8EA7-49A2-8632-F5734874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09950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91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A918FF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8D2C43-DE8F-4F58-86DE-9E824E9A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100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Normalize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5C612F-6F29-4A62-AAE3-799DDEC6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33850"/>
            <a:ext cx="1333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4C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4C5"/>
                </a:solidFill>
                <a:latin typeface="Aptos"/>
                <a:ea typeface="Aptos"/>
                <a:cs typeface="Aptos"/>
              </a:rPr>
              <a:t>MOV / ProRes / PCM become browser-ready H.264 / AAC.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B3470B-AD2B-4F47-82AD-5045B8FF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19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1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601479-9A3C-4A7B-8693-3C426A10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19450"/>
            <a:ext cx="16764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A918FF">
                <a:alpha val="46667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1DC6AF-816B-4072-9E99-E3627BEB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09950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91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A918FF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E987C6-C99D-4806-B23C-80449DC1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8100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Render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9CDF7C-DA1E-48EC-AB31-FB79C5B6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133850"/>
            <a:ext cx="1333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4C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4C5"/>
                </a:solidFill>
                <a:latin typeface="Aptos"/>
                <a:ea typeface="Aptos"/>
                <a:cs typeface="Aptos"/>
              </a:rPr>
              <a:t>HyperFrames adds BGM, overlays, motion and exports MP4.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C5E7EF-C725-4572-AAEF-5A948FEE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410200"/>
            <a:ext cx="7334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33333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9886F2-1C32-4BE3-BC16-EFF774CC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572125"/>
            <a:ext cx="676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EBF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8EBF5"/>
                </a:solidFill>
                <a:latin typeface="Aptos"/>
                <a:ea typeface="Aptos"/>
                <a:cs typeface="Aptos"/>
              </a:rPr>
              <a:t>Default talking-head setting: cut pauses &gt;= 0.45s, keep 0.11s padding, then mix BGM at render time.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0E13C5-8A4E-4CA5-8D6E-7FA12933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VSHORT / HyperFrames Auto Editing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C10DA1-DAA4-4069-B097-F766C01B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1462848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AF51BD-6EC9-45CD-9932-7490A632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90635-75E3-4411-982A-DF3C5698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2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3BAFA-9F90-48B8-8DB8-55C2346F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FEC08-5827-486B-8489-3233B4E0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2B">
              <a:alpha val="13333"/>
            </a:srgbClr>
          </a:solidFill>
          <a:ln xmlns:a="http://schemas.openxmlformats.org/drawingml/2006/main" w="9525">
            <a:solidFill>
              <a:srgbClr val="FF5C2B">
                <a:alpha val="4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CAA18-6631-4755-B79E-13769862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7019D-D722-4720-A220-DF5C3559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D45D7-2246-4F9B-A28B-82706A7E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C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5C2B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90A5B9-00F9-4705-A9A5-487612D0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7429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The active export path no longer calls CutClaw.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18502-BE07-42C0-A689-8E8E9B3E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695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FD3D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FD3DF"/>
                </a:solidFill>
                <a:latin typeface="Aptos"/>
                <a:ea typeface="Aptos"/>
                <a:cs typeface="Aptos"/>
              </a:rPr>
              <a:t>CutClaw remains legacy code in the repo, but the live job path now routes through FFmpeg pause cutting and HyperFrames rendering.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ACB3F-C614-4903-9D9C-F0C32845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514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4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81271F-653D-41E8-8A17-FC0C0EBF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C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5C2B"/>
                </a:solidFill>
                <a:latin typeface="Aptos"/>
                <a:ea typeface="Aptos"/>
                <a:cs typeface="Aptos"/>
              </a:rPr>
              <a:t>silenceCutter.js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A1BB33-DB9C-4561-BACF-30E23443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765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FD3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FD3DF"/>
                </a:solidFill>
                <a:latin typeface="Aptos"/>
                <a:ea typeface="Aptos"/>
                <a:cs typeface="Aptos"/>
              </a:rPr>
              <a:t>FFmpeg silence detection and pause removal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FB457C-DFCF-4143-B89B-EA1E32A4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514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9EF09-55F7-40B5-AB02-8652CBE0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D4FF"/>
                </a:solidFill>
                <a:latin typeface="Aptos"/>
                <a:ea typeface="Aptos"/>
                <a:cs typeface="Aptos"/>
              </a:rPr>
              <a:t>hyperframesRenderer.js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41FAF1-6283-4C0B-A41A-D4529893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04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FD3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FD3DF"/>
                </a:solidFill>
                <a:latin typeface="Aptos"/>
                <a:ea typeface="Aptos"/>
                <a:cs typeface="Aptos"/>
              </a:rPr>
              <a:t>Composition generation, BGM, lint and render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3D0688-B67C-4D96-9C16-362F46F3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514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A918FF">
                <a:alpha val="4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8CFAAC-AC6D-4233-BCF9-D9AC995B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18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918FF"/>
                </a:solidFill>
                <a:latin typeface="Aptos"/>
                <a:ea typeface="Aptos"/>
                <a:cs typeface="Aptos"/>
              </a:rPr>
              <a:t>videoProcessor.js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59ACC0-9201-4FF0-8596-75CA3FCA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243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FD3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FD3DF"/>
                </a:solidFill>
                <a:latin typeface="Aptos"/>
                <a:ea typeface="Aptos"/>
                <a:cs typeface="Aptos"/>
              </a:rPr>
              <a:t>Job orchestration and progress stages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D3C5E7-96E3-4E50-B81A-16D548CC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514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3EE98C">
                <a:alpha val="4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995C17-81C9-4848-8FD8-66D14984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EE98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EE98C"/>
                </a:solidFill>
                <a:latin typeface="Aptos"/>
                <a:ea typeface="Aptos"/>
                <a:cs typeface="Aptos"/>
              </a:rPr>
              <a:t>auth.js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5AFBD9-68EF-4346-8CCD-8FC3FD6F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FD3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FD3DF"/>
                </a:solidFill>
                <a:latin typeface="Aptos"/>
                <a:ea typeface="Aptos"/>
                <a:cs typeface="Aptos"/>
              </a:rPr>
              <a:t>Supabase auth with env-based publishable key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324452-72AC-48E4-AB0A-60DDA1C1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05100"/>
            <a:ext cx="4191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00D4FF">
                <a:alpha val="33333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C87E80-BD22-49B3-834F-842DC25F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908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D4FF"/>
                </a:solidFill>
                <a:latin typeface="Aptos"/>
                <a:ea typeface="Aptos"/>
                <a:cs typeface="Aptos"/>
              </a:rPr>
              <a:t>SMOKE TEST 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86FA07-EA2C-4CF2-85DF-44CF809C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671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DONE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79A114-5B3D-4E60-B0C2-4B44AA7B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6720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BD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DCA"/>
                </a:solidFill>
                <a:latin typeface="Aptos"/>
                <a:ea typeface="Aptos"/>
                <a:cs typeface="Aptos"/>
              </a:rPr>
              <a:t>Nymard MOV -&gt; auto pause stage -&gt; normalized HyperFrames source -&gt; 1080x1920 final MP4.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1AAC70-FEC3-4397-AFD0-D9647DE6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339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96A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F96A8"/>
                </a:solidFill>
                <a:latin typeface="Aptos"/>
                <a:ea typeface="Aptos"/>
                <a:cs typeface="Aptos"/>
              </a:rPr>
              <a:t>Validation: node --check, /api/health 200, HyperFrames lint, HyperFrames inspect.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B6A79F-EF8D-4247-B42F-7828956D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VSHORT / HyperFrames Auto Editing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7B7ADF-E3D6-4709-955F-0C469C68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773221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D031BD-DCCB-4B28-9001-21604818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61CEF-8029-407B-84FF-74943591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B6332-938A-4F67-B340-BFE67A5C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FAF71-AC9D-4DFD-A374-BF7CAB45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FF">
              <a:alpha val="13333"/>
            </a:srgbClr>
          </a:solidFill>
          <a:ln xmlns:a="http://schemas.openxmlformats.org/drawingml/2006/main" w="9525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7E350-0E0D-4C8C-8FD2-3C02F3BC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AE6E7-5F2C-45A5-B571-CF59D409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FFB4F-C97E-4BB6-B3B6-A0C2459A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D4FF"/>
                </a:solidFill>
                <a:latin typeface="Aptos"/>
                <a:ea typeface="Aptos"/>
                <a:cs typeface="Aptos"/>
              </a:rPr>
              <a:t>DEMO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55EC3-63C8-475E-AD10-D1981CB9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6858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The final render is a platform-ready vertical short.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659F1-E8EE-4236-9205-A538CEE7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FD3D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FD3DF"/>
                </a:solidFill>
                <a:latin typeface="Aptos"/>
                <a:ea typeface="Aptos"/>
                <a:cs typeface="Aptos"/>
              </a:rPr>
              <a:t>The same path is triggered from the editor export button; this run used the Nymard MOV test asset.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904EB-86BC-4FC7-883C-E96EA233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3050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2a068016314e11"/>
          <a:srcRect xmlns:a="http://schemas.openxmlformats.org/drawingml/2006/main" l="28" t="0" r="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3950" y="2647950"/>
            <a:ext cx="2152650" cy="38290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F7053A-C03D-48C2-9248-F6426D0C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33333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A9452-C255-430F-8211-3E7A4C66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479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CA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58CA0"/>
                </a:solidFill>
                <a:latin typeface="Aptos"/>
                <a:ea typeface="Aptos"/>
                <a:cs typeface="Aptos"/>
              </a:rPr>
              <a:t>Format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1F877-A064-4755-B44B-3B7E8AEF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003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MP4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923D3-B6CD-4315-99BF-AF6EC88D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718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33333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0F0332-C77D-43EF-A6AB-D31CD354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956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CA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58CA0"/>
                </a:solidFill>
                <a:latin typeface="Aptos"/>
                <a:ea typeface="Aptos"/>
                <a:cs typeface="Aptos"/>
              </a:rPr>
              <a:t>Video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E56B56-E909-4DD5-991F-6BF8849C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480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H.264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BDC8B5-B6A2-4D70-A7CE-339EF26C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195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33333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BE1369-AA26-4BA0-8ABD-F8C1B52C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433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CA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58CA0"/>
                </a:solidFill>
                <a:latin typeface="Aptos"/>
                <a:ea typeface="Aptos"/>
                <a:cs typeface="Aptos"/>
              </a:rPr>
              <a:t>Audio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29EA01-DA8D-4EC0-854E-D95D6B4E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957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AAC stereo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D0FEA4-3998-4CF3-B8A8-D9E9B378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672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33333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749865-27AC-458B-A422-5306B241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7910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CA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58CA0"/>
                </a:solidFill>
                <a:latin typeface="Aptos"/>
                <a:ea typeface="Aptos"/>
                <a:cs typeface="Aptos"/>
              </a:rPr>
              <a:t>Canvas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227219-1653-4E5B-882E-7956B9BB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7434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1080 x 1920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4E884B-511B-4035-9CD3-4FA39FC8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3149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33333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1382D0-91FD-48B0-BBC2-03CDAB04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4387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CA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58CA0"/>
                </a:solidFill>
                <a:latin typeface="Aptos"/>
                <a:ea typeface="Aptos"/>
                <a:cs typeface="Aptos"/>
              </a:rPr>
              <a:t>Frame 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B9DD4A-1451-4B1E-AEAC-E7A6811D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3911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30fps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316D90-01E6-459A-B7B9-B543975C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01980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00D4FF">
                <a:alpha val="33333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AA2D2F-FFDC-41A8-8D5F-F3A8C155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115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0D4FF"/>
                </a:solidFill>
                <a:latin typeface="Aptos"/>
                <a:ea typeface="Aptos"/>
                <a:cs typeface="Aptos"/>
              </a:rPr>
              <a:t>HyperFrames lint + inspect: pass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8BEBE7-89BE-4403-9EC4-5B430AF2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VSHORT / HyperFrames Auto Editing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8352EA-CE9E-4C97-A155-DC7391AE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628028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2E0722-6B65-4320-9419-47B7048B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425AB-BDA9-40CC-BF0C-8E8A0719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E98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9B336-4CD1-48BD-BB93-AA861CD3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F30E4-C1D5-4D4E-9180-E4165CE1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E98C">
              <a:alpha val="13333"/>
            </a:srgbClr>
          </a:solidFill>
          <a:ln xmlns:a="http://schemas.openxmlformats.org/drawingml/2006/main" w="9525">
            <a:solidFill>
              <a:srgbClr val="3EE98C">
                <a:alpha val="4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522AB-CB79-4452-AC76-CF2B0E52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E3C3C-9F37-415E-BF97-0A3CD0C9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E9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5438C-17B7-4BE0-B22E-1A885D2F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9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EE98C"/>
                </a:solidFill>
                <a:latin typeface="Aptos"/>
                <a:ea typeface="Aptos"/>
                <a:cs typeface="Aptos"/>
              </a:rPr>
              <a:t>DELIVERY CHECKLIST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94264-702F-49C3-9BF7-F9B31DF8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7429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Ready to push as the HyperFrames auto-editing version.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17923-09AB-46D0-9296-443DD7A8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685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FD3D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FD3DF"/>
                </a:solidFill>
                <a:latin typeface="Aptos"/>
                <a:ea typeface="Aptos"/>
                <a:cs typeface="Aptos"/>
              </a:rPr>
              <a:t>The commit captures the backend transition, README updates, screenshots and the demo deck.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C01E8-4F78-4E00-A3D6-176F4207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E9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A1A13C-3B45-4F4E-963E-4BA59ECF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3EE98C">
                <a:alpha val="33333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6C635-1A34-4E8B-AFF3-37FC5AC0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051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Preserved 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01A6A-669C-4FBF-A714-617ECDE4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146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BDC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8BDCA"/>
                </a:solidFill>
                <a:latin typeface="Aptos"/>
                <a:ea typeface="Aptos"/>
                <a:cs typeface="Aptos"/>
              </a:rPr>
              <a:t>No redesign of scripts, storyboard or editor pages.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3B7C90-EF40-4B57-98E0-68144CE6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9058E6-3B4F-4117-B331-C739CCA6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909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33333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1B40F3-E8CA-4DFF-BABA-017759BA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147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Automated edits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F39800-FA28-4938-87C5-1325021D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242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BDC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8BDCA"/>
                </a:solidFill>
                <a:latin typeface="Aptos"/>
                <a:ea typeface="Aptos"/>
                <a:cs typeface="Aptos"/>
              </a:rPr>
              <a:t>Long pauses are cut without manual trim points.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AA2837-01F0-4774-9238-5C809542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15468B-E281-4A90-9C30-0A91EAE9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00D4FF">
                <a:alpha val="33333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00A6D7-9A53-40E5-BC46-57871BB6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243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HyperFrames render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0B8064-CC85-4677-AF17-C2092113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338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BDC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8BDCA"/>
                </a:solidFill>
                <a:latin typeface="Aptos"/>
                <a:ea typeface="Aptos"/>
                <a:cs typeface="Aptos"/>
              </a:rPr>
              <a:t>HTML composition, BGM, overlays and final MP4 render.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23018F-3D20-4514-A6F4-D3DC781A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1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82B466-C0F4-420C-AD46-B1BBD7C3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101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A918FF">
                <a:alpha val="33333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1933B4-BED5-4BC5-B610-573CD184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339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Deployability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F9208D-1398-459B-9C48-3565C7DF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434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BDC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8BDCA"/>
                </a:solidFill>
                <a:latin typeface="Aptos"/>
                <a:ea typeface="Aptos"/>
                <a:cs typeface="Aptos"/>
              </a:rPr>
              <a:t>Node 22+, dependency-pinned HyperFrames, cross-platform npx.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44F164-78F8-4C12-AEC9-A5C09FB0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E9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2137D0-7AE8-41EF-B062-2C7F949B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3EE98C">
                <a:alpha val="33333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9A6087-A954-4490-8F45-A16FEC82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435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Presentation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4D8653-5656-428A-8490-92CBD1F5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53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BDC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8BDCA"/>
                </a:solidFill>
                <a:latin typeface="Aptos"/>
                <a:ea typeface="Aptos"/>
                <a:cs typeface="Aptos"/>
              </a:rPr>
              <a:t>Demo screenshots and verification story packaged in PPTX.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398913-4523-4A63-853A-90E4EC9F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81300"/>
            <a:ext cx="1809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40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6067C8-5786-46DC-867C-9F487AD5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861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5C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5C2B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D7FD15-49FF-4A76-B021-476DFAE1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AE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DAE5"/>
                </a:solidFill>
                <a:latin typeface="Aptos"/>
                <a:ea typeface="Aptos"/>
                <a:cs typeface="Aptos"/>
              </a:rPr>
              <a:t>Add transcript-based captions, user-facing pause-cut controls, and queue workers for longer uploads.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07AE2D-3704-4AF7-89B9-4D46A539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VSHORT / HyperFrames Auto Editing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8A2A65-C632-440C-9AD5-DFE5BF26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81390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2026-06-03T03:47:10.9020000Z</dcterms:created>
  <dcterms:modified xsi:type="dcterms:W3CDTF">2026-06-03T03:47:10.9020000Z</dcterms:modified>
</coreProperties>
</file>